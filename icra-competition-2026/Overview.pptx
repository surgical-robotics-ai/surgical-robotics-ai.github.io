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1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1775E-0278-4118-CDCE-A15C7EB49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440430-3E1F-7264-70D8-C4F3C159FF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92B87-9465-B32F-7851-A9C2F8A29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CB5EE-298F-4A34-9A77-E04FC9D5EB12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21F48-3002-F72F-4ECA-B3234F0F2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E38FF-5EF6-2D77-C38E-ED097FB4E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2DC40-A7F2-423C-AFA6-7AF9669EE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37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7D534-DC5C-9C78-B761-1CED768CB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22F5C-4F51-4EB6-802A-68EEAE3A0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E438F-EC6D-D339-01AC-A2DC56F95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CB5EE-298F-4A34-9A77-E04FC9D5EB12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5ACC7-D10A-78E5-6B17-7D69FE127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F52F7-A199-15AF-2408-925CA4222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2DC40-A7F2-423C-AFA6-7AF9669EE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4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07A4A-E854-2DB0-1AEB-CC24B223F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DE1DF-EEE9-25F0-6B0C-82B36B771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5E65B-83FF-8867-C018-C3B1F19B6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CB5EE-298F-4A34-9A77-E04FC9D5EB12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A2AB0-F167-13B3-F11D-CDE02DB72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1B5F8-6081-50ED-2D3A-0E7CC508B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2DC40-A7F2-423C-AFA6-7AF9669EE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122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8C748-E480-3CE5-118F-C36091319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C305D-6A26-93B1-2CDB-3E8B46A87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C50D58-F204-A94F-0EE1-E85713196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3CAFC-DDD0-F676-A58A-57C6727C6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CB5EE-298F-4A34-9A77-E04FC9D5EB12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14FA25-202C-0500-1AD0-26D9F1EEE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549A44-427C-A186-C95E-B822E94FE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2DC40-A7F2-423C-AFA6-7AF9669EE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6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63C0E-3E06-F521-4746-1A79DBA1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18CBD6-0385-F241-9A58-2ADA35952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A91AC6-9F28-0B05-1C01-4CF97CEB0C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92E179-F838-6943-D353-83A313BA42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AD797B-D4E3-A8BD-FA09-3BFB184F01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B0B2C5-5C62-5AF8-DBB7-EEAD33A41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CB5EE-298F-4A34-9A77-E04FC9D5EB12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119F0D-04F2-53B1-6C0E-47715D42D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DBDE88-435B-C73E-E638-407DAF972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2DC40-A7F2-423C-AFA6-7AF9669EE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3C6F1-D314-2B30-6D37-344BC9083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F31ED5-D58B-5729-7C2D-F5955A013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CB5EE-298F-4A34-9A77-E04FC9D5EB12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73A2E3-5B64-E6F6-5913-BE2CE246E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3FCB6B-937C-AF49-89A2-01CA26EAF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2DC40-A7F2-423C-AFA6-7AF9669EE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078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857D82-D2D2-1D7C-4FDA-FAB13FBDE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CB5EE-298F-4A34-9A77-E04FC9D5EB12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FE4972-C2AC-C027-BBCB-4E6B163A3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AB2CC-09AD-2788-6C79-C289E0F94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2DC40-A7F2-423C-AFA6-7AF9669EE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613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2A145-AA6F-F73F-C140-60D3EFEE7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75985-D60C-BEE7-47C1-85A405D49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6B32BF-CC29-E995-4CAE-B8C120F20D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D4595-C621-5CB2-BFD4-47CF04DF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CB5EE-298F-4A34-9A77-E04FC9D5EB12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E9465E-F7FB-E47E-9424-48B29E33D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B18F10-392A-B96D-7636-1BE181FBA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2DC40-A7F2-423C-AFA6-7AF9669EE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519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BC11C-C77F-90B5-BFBE-69B1A776B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71FBF2-26CC-332E-371D-1A9BEDE8A9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88FF0-FA7E-9B16-6305-55B4AB3BA6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3E3A9B-6987-0639-A110-1377EF583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CB5EE-298F-4A34-9A77-E04FC9D5EB12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BE6C06-4B01-1538-78DF-7904B29CB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890BF-F774-6BBE-2C26-D37CC3BE8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2DC40-A7F2-423C-AFA6-7AF9669EE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571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23311-7F94-E91A-C802-7AD64C018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623F4B-26B1-30A5-6E33-2A37777451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01EBC-F9DE-261A-351E-4DC700BF3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CB5EE-298F-4A34-9A77-E04FC9D5EB12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5E12D-6D82-43C6-DE9F-678590DD7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29646-FCB2-8184-5E78-36B4996F5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2DC40-A7F2-423C-AFA6-7AF9669EE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28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CE31A7-590D-78A7-2171-6791550BDA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90AB85-0669-6DBA-3FE9-B7D565D6F2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63A51-2D0B-25EB-C865-64F0ABB9E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CB5EE-298F-4A34-9A77-E04FC9D5EB12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C7175-4939-DA49-6719-9B5A12C95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81FD2-E4F1-32AE-EFD8-1A4CE7905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2DC40-A7F2-423C-AFA6-7AF9669EE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636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CE1641-201F-0B7E-DE74-23B044EF3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9E3B86-BD8A-DB9A-9F20-6A651BEB8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7A0D5-6CBA-A2EC-CCE0-A1E12441D1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CCB5EE-298F-4A34-9A77-E04FC9D5EB12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28CF8-BD41-78BF-D8F6-B911F92628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1CC34-602C-E5B1-A500-B236BB5347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42DC40-A7F2-423C-AFA6-7AF9669EE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971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361943-FF84-A5CE-2122-F24CCA81968B}"/>
              </a:ext>
            </a:extLst>
          </p:cNvPr>
          <p:cNvSpPr txBox="1"/>
          <p:nvPr/>
        </p:nvSpPr>
        <p:spPr>
          <a:xfrm>
            <a:off x="351692" y="446259"/>
            <a:ext cx="4851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Human Teleoperation Challenge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9E99C9-39E5-5306-94E3-0FAF739D2CFB}"/>
              </a:ext>
            </a:extLst>
          </p:cNvPr>
          <p:cNvSpPr txBox="1"/>
          <p:nvPr/>
        </p:nvSpPr>
        <p:spPr>
          <a:xfrm>
            <a:off x="5776372" y="445893"/>
            <a:ext cx="48460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Autonomous  AI Challenge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croll: Horizontal 5">
            <a:extLst>
              <a:ext uri="{FF2B5EF4-FFF2-40B4-BE49-F238E27FC236}">
                <a16:creationId xmlns:a16="http://schemas.microsoft.com/office/drawing/2014/main" id="{48424030-507B-C6B7-48C3-748AC8ED03B4}"/>
              </a:ext>
            </a:extLst>
          </p:cNvPr>
          <p:cNvSpPr/>
          <p:nvPr/>
        </p:nvSpPr>
        <p:spPr>
          <a:xfrm>
            <a:off x="683328" y="910493"/>
            <a:ext cx="4111740" cy="1005840"/>
          </a:xfrm>
          <a:prstGeom prst="horizontalScroll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1600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Play the game to compete for a prize!</a:t>
            </a:r>
          </a:p>
          <a:p>
            <a:pPr>
              <a:lnSpc>
                <a:spcPct val="150000"/>
              </a:lnSpc>
            </a:pPr>
            <a:r>
              <a:rPr lang="en-US" sz="1600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experience or preparation needed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090C296D-AF2A-BFFF-64D8-F9E65DFAE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97889" y="2210140"/>
            <a:ext cx="1280903" cy="1280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machine with a black background&#10;&#10;Description automatically generated">
            <a:extLst>
              <a:ext uri="{FF2B5EF4-FFF2-40B4-BE49-F238E27FC236}">
                <a16:creationId xmlns:a16="http://schemas.microsoft.com/office/drawing/2014/main" id="{A7618B67-0398-BD33-F995-22A582E862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345" y="2022292"/>
            <a:ext cx="1700341" cy="14707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F62448F-7F0D-BD70-2BBA-02F0C7BF782B}"/>
              </a:ext>
            </a:extLst>
          </p:cNvPr>
          <p:cNvSpPr txBox="1"/>
          <p:nvPr/>
        </p:nvSpPr>
        <p:spPr>
          <a:xfrm>
            <a:off x="346440" y="3982390"/>
            <a:ext cx="48515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Use this </a:t>
            </a:r>
            <a:r>
              <a:rPr lang="en-US" sz="1600" u="sng" dirty="0">
                <a:latin typeface="Arial" panose="020B0604020202020204" pitchFamily="34" charset="0"/>
                <a:cs typeface="Arial" panose="020B0604020202020204" pitchFamily="34" charset="0"/>
              </a:rPr>
              <a:t>HMD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to teleoperate two of these </a:t>
            </a:r>
            <a:r>
              <a:rPr lang="en-US" sz="1600" u="sng" dirty="0">
                <a:latin typeface="Arial" panose="020B0604020202020204" pitchFamily="34" charset="0"/>
                <a:cs typeface="Arial" panose="020B0604020202020204" pitchFamily="34" charset="0"/>
              </a:rPr>
              <a:t>robots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to perform this </a:t>
            </a:r>
            <a:r>
              <a:rPr lang="en-US" sz="1600" u="sng" dirty="0">
                <a:latin typeface="Arial" panose="020B0604020202020204" pitchFamily="34" charset="0"/>
                <a:cs typeface="Arial" panose="020B0604020202020204" pitchFamily="34" charset="0"/>
              </a:rPr>
              <a:t>task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(real or sim)</a:t>
            </a:r>
            <a:endParaRPr lang="en-US" sz="11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E6D167-A4BA-E0B3-4A5F-FB6FE66B4CA5}"/>
              </a:ext>
            </a:extLst>
          </p:cNvPr>
          <p:cNvCxnSpPr>
            <a:cxnSpLocks/>
          </p:cNvCxnSpPr>
          <p:nvPr/>
        </p:nvCxnSpPr>
        <p:spPr>
          <a:xfrm flipV="1">
            <a:off x="1486919" y="3562871"/>
            <a:ext cx="0" cy="419519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1A816E5-EA00-404E-5C04-7B1C7B9551BD}"/>
              </a:ext>
            </a:extLst>
          </p:cNvPr>
          <p:cNvCxnSpPr>
            <a:cxnSpLocks/>
          </p:cNvCxnSpPr>
          <p:nvPr/>
        </p:nvCxnSpPr>
        <p:spPr>
          <a:xfrm flipH="1" flipV="1">
            <a:off x="4049486" y="3491043"/>
            <a:ext cx="286349" cy="469703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Scroll: Horizontal 13">
            <a:extLst>
              <a:ext uri="{FF2B5EF4-FFF2-40B4-BE49-F238E27FC236}">
                <a16:creationId xmlns:a16="http://schemas.microsoft.com/office/drawing/2014/main" id="{E0913823-EE26-0643-9FCF-F0C3AD55E0F8}"/>
              </a:ext>
            </a:extLst>
          </p:cNvPr>
          <p:cNvSpPr/>
          <p:nvPr/>
        </p:nvSpPr>
        <p:spPr>
          <a:xfrm>
            <a:off x="6078310" y="910493"/>
            <a:ext cx="4114800" cy="1005840"/>
          </a:xfrm>
          <a:prstGeom prst="horizontalScroll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1600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a bigger challenge and reward</a:t>
            </a:r>
          </a:p>
          <a:p>
            <a:pPr>
              <a:lnSpc>
                <a:spcPct val="150000"/>
              </a:lnSpc>
            </a:pPr>
            <a:r>
              <a:rPr lang="en-US" sz="1600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Registration required (see website)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507329-ECEE-7419-DAB3-E1BB78F5EFF8}"/>
              </a:ext>
            </a:extLst>
          </p:cNvPr>
          <p:cNvSpPr txBox="1"/>
          <p:nvPr/>
        </p:nvSpPr>
        <p:spPr>
          <a:xfrm>
            <a:off x="5771121" y="3982390"/>
            <a:ext cx="48512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Develop </a:t>
            </a:r>
            <a:r>
              <a:rPr lang="en-US" sz="1600" u="sng" dirty="0">
                <a:latin typeface="Arial" panose="020B0604020202020204" pitchFamily="34" charset="0"/>
                <a:cs typeface="Arial" panose="020B0604020202020204" pitchFamily="34" charset="0"/>
              </a:rPr>
              <a:t>AI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for two of these </a:t>
            </a:r>
            <a:r>
              <a:rPr lang="en-US" sz="1600" u="sng" dirty="0">
                <a:latin typeface="Arial" panose="020B0604020202020204" pitchFamily="34" charset="0"/>
                <a:cs typeface="Arial" panose="020B0604020202020204" pitchFamily="34" charset="0"/>
              </a:rPr>
              <a:t>robots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to autonomously perform this </a:t>
            </a:r>
            <a:r>
              <a:rPr lang="en-US" sz="1600" u="sng" dirty="0">
                <a:latin typeface="Arial" panose="020B0604020202020204" pitchFamily="34" charset="0"/>
                <a:cs typeface="Arial" panose="020B0604020202020204" pitchFamily="34" charset="0"/>
              </a:rPr>
              <a:t>task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(real or sim)</a:t>
            </a:r>
            <a:endParaRPr lang="en-US" sz="11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 descr="A machine with a black background&#10;&#10;Description automatically generated">
            <a:extLst>
              <a:ext uri="{FF2B5EF4-FFF2-40B4-BE49-F238E27FC236}">
                <a16:creationId xmlns:a16="http://schemas.microsoft.com/office/drawing/2014/main" id="{49E67186-6A46-B530-4EC1-60B92076ED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818" y="2022292"/>
            <a:ext cx="1681821" cy="1454775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8E468AC-16E9-A8AA-467C-205238BE6A39}"/>
              </a:ext>
            </a:extLst>
          </p:cNvPr>
          <p:cNvCxnSpPr>
            <a:cxnSpLocks/>
          </p:cNvCxnSpPr>
          <p:nvPr/>
        </p:nvCxnSpPr>
        <p:spPr>
          <a:xfrm flipV="1">
            <a:off x="8674334" y="3562871"/>
            <a:ext cx="0" cy="369552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Cylinder 25">
            <a:extLst>
              <a:ext uri="{FF2B5EF4-FFF2-40B4-BE49-F238E27FC236}">
                <a16:creationId xmlns:a16="http://schemas.microsoft.com/office/drawing/2014/main" id="{252A6771-91AC-A582-33FC-007499B47E78}"/>
              </a:ext>
            </a:extLst>
          </p:cNvPr>
          <p:cNvSpPr/>
          <p:nvPr/>
        </p:nvSpPr>
        <p:spPr>
          <a:xfrm>
            <a:off x="6385325" y="2513630"/>
            <a:ext cx="764119" cy="714574"/>
          </a:xfrm>
          <a:prstGeom prst="can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dirty="0"/>
              <a:t>Data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F3ACB078-6BF0-5E63-096D-FBD20D5338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205" y="4580966"/>
            <a:ext cx="1891862" cy="114502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249FF28-EE4A-06E5-D2D0-13D82FA1DD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7703" y="4580966"/>
            <a:ext cx="1979316" cy="1197950"/>
          </a:xfrm>
          <a:prstGeom prst="rect">
            <a:avLst/>
          </a:prstGeom>
        </p:spPr>
      </p:pic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3FB035B8-E9F5-45E1-5693-B2EFFAF8B287}"/>
              </a:ext>
            </a:extLst>
          </p:cNvPr>
          <p:cNvCxnSpPr>
            <a:cxnSpLocks/>
            <a:stCxn id="28" idx="3"/>
            <a:endCxn id="26" idx="2"/>
          </p:cNvCxnSpPr>
          <p:nvPr/>
        </p:nvCxnSpPr>
        <p:spPr>
          <a:xfrm flipV="1">
            <a:off x="4795067" y="2870917"/>
            <a:ext cx="1590258" cy="2282559"/>
          </a:xfrm>
          <a:prstGeom prst="bentConnector3">
            <a:avLst>
              <a:gd name="adj1" fmla="val 45577"/>
            </a:avLst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6CA9342-F26E-C768-CD57-B8030F251207}"/>
              </a:ext>
            </a:extLst>
          </p:cNvPr>
          <p:cNvCxnSpPr>
            <a:cxnSpLocks/>
            <a:stCxn id="26" idx="3"/>
          </p:cNvCxnSpPr>
          <p:nvPr/>
        </p:nvCxnSpPr>
        <p:spPr>
          <a:xfrm flipH="1">
            <a:off x="6762490" y="3228204"/>
            <a:ext cx="4895" cy="754186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4CE53562-59D6-87C4-5997-A6B014E68BA1}"/>
              </a:ext>
            </a:extLst>
          </p:cNvPr>
          <p:cNvCxnSpPr>
            <a:cxnSpLocks/>
            <a:stCxn id="44" idx="2"/>
            <a:endCxn id="28" idx="1"/>
          </p:cNvCxnSpPr>
          <p:nvPr/>
        </p:nvCxnSpPr>
        <p:spPr>
          <a:xfrm rot="16200000" flipH="1">
            <a:off x="2030145" y="4280415"/>
            <a:ext cx="597495" cy="114862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3B1FB05A-FD07-BA60-6970-213FD547F7CB}"/>
              </a:ext>
            </a:extLst>
          </p:cNvPr>
          <p:cNvSpPr/>
          <p:nvPr/>
        </p:nvSpPr>
        <p:spPr>
          <a:xfrm>
            <a:off x="1542677" y="4280599"/>
            <a:ext cx="423806" cy="2753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38F433C9-2080-BFF1-A0B8-4245F5ACE4B8}"/>
              </a:ext>
            </a:extLst>
          </p:cNvPr>
          <p:cNvCxnSpPr>
            <a:cxnSpLocks/>
            <a:stCxn id="47" idx="2"/>
            <a:endCxn id="29" idx="1"/>
          </p:cNvCxnSpPr>
          <p:nvPr/>
        </p:nvCxnSpPr>
        <p:spPr>
          <a:xfrm rot="16200000" flipH="1">
            <a:off x="7377097" y="4369335"/>
            <a:ext cx="626590" cy="99462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C0D474B0-B082-1598-BB5F-F028C1E2F2E4}"/>
              </a:ext>
            </a:extLst>
          </p:cNvPr>
          <p:cNvSpPr/>
          <p:nvPr/>
        </p:nvSpPr>
        <p:spPr>
          <a:xfrm>
            <a:off x="6993660" y="4220306"/>
            <a:ext cx="398843" cy="3330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072FF6A-0499-FBA1-715D-A0FDF5003A2E}"/>
              </a:ext>
            </a:extLst>
          </p:cNvPr>
          <p:cNvSpPr txBox="1"/>
          <p:nvPr/>
        </p:nvSpPr>
        <p:spPr>
          <a:xfrm>
            <a:off x="346440" y="5727534"/>
            <a:ext cx="484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Data recorded with informed consent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FF4FCCC-E6C5-BA6D-FA3C-DF6B4FBA3FF8}"/>
              </a:ext>
            </a:extLst>
          </p:cNvPr>
          <p:cNvSpPr txBox="1"/>
          <p:nvPr/>
        </p:nvSpPr>
        <p:spPr>
          <a:xfrm>
            <a:off x="4817175" y="5127903"/>
            <a:ext cx="415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60CFED39-092C-AE9B-2FB4-261EDE12B891}"/>
              </a:ext>
            </a:extLst>
          </p:cNvPr>
          <p:cNvSpPr/>
          <p:nvPr/>
        </p:nvSpPr>
        <p:spPr>
          <a:xfrm>
            <a:off x="351692" y="432079"/>
            <a:ext cx="4846320" cy="566928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8C4E3934-C1BF-092D-0BCD-D765DDA09911}"/>
              </a:ext>
            </a:extLst>
          </p:cNvPr>
          <p:cNvSpPr/>
          <p:nvPr/>
        </p:nvSpPr>
        <p:spPr>
          <a:xfrm>
            <a:off x="5776372" y="432079"/>
            <a:ext cx="4846016" cy="566928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270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75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Johns Hopkins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Kazanzides</dc:creator>
  <cp:lastModifiedBy>Peter Kazanzides</cp:lastModifiedBy>
  <cp:revision>7</cp:revision>
  <dcterms:created xsi:type="dcterms:W3CDTF">2026-05-30T06:30:04Z</dcterms:created>
  <dcterms:modified xsi:type="dcterms:W3CDTF">2026-05-30T08:10:45Z</dcterms:modified>
</cp:coreProperties>
</file>